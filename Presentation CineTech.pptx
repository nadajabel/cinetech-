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ubblebody Neue Bold" charset="1" panose="00000500000000000000"/>
      <p:regular r:id="rId19"/>
    </p:embeddedFont>
    <p:embeddedFont>
      <p:font typeface="Nunito 1 Bold" charset="1" panose="00000000000000000000"/>
      <p:regular r:id="rId20"/>
    </p:embeddedFont>
    <p:embeddedFont>
      <p:font typeface="Nunito 2 Bold" charset="1" panose="00000800000000000000"/>
      <p:regular r:id="rId21"/>
    </p:embeddedFont>
    <p:embeddedFont>
      <p:font typeface="Bubblebody Neue" charset="1" panose="00000500000000000000"/>
      <p:regular r:id="rId22"/>
    </p:embeddedFont>
    <p:embeddedFont>
      <p:font typeface="Nunito 2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16041669" cy="10204429"/>
          </a:xfrm>
          <a:custGeom>
            <a:avLst/>
            <a:gdLst/>
            <a:ahLst/>
            <a:cxnLst/>
            <a:rect r="r" b="b" t="t" l="l"/>
            <a:pathLst>
              <a:path h="10204429" w="16041669">
                <a:moveTo>
                  <a:pt x="0" y="0"/>
                </a:moveTo>
                <a:lnTo>
                  <a:pt x="16041669" y="0"/>
                </a:lnTo>
                <a:lnTo>
                  <a:pt x="16041669" y="10204429"/>
                </a:lnTo>
                <a:lnTo>
                  <a:pt x="0" y="10204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</a:blip>
            <a:stretch>
              <a:fillRect l="0" t="-5701" r="-12919" b="-369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7918" y="2796040"/>
            <a:ext cx="13760741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2"/>
              </a:lnSpc>
            </a:pPr>
            <a:r>
              <a:rPr lang="en-US" sz="9393" b="true">
                <a:solidFill>
                  <a:srgbClr val="F4F4F4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CineTech – Smart Backoffice Dashboard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098665"/>
            <a:ext cx="6130551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F4F4F4"/>
                </a:solidFill>
                <a:latin typeface="Nunito 1 Bold"/>
                <a:ea typeface="Nunito 1 Bold"/>
                <a:cs typeface="Nunito 1 Bold"/>
                <a:sym typeface="Nunito 1 Bold"/>
              </a:rPr>
              <a:t>Module : Développement Web – Filière : 3IIR – Année : 2025/2026</a:t>
            </a:r>
          </a:p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F4F4F4"/>
                </a:solidFill>
                <a:latin typeface="Nunito 1 Bold"/>
                <a:ea typeface="Nunito 1 Bold"/>
                <a:cs typeface="Nunito 1 Bold"/>
                <a:sym typeface="Nunito 1 Bold"/>
              </a:rPr>
              <a:t>Réalisé par :</a:t>
            </a:r>
          </a:p>
          <a:p>
            <a:pPr algn="l">
              <a:lnSpc>
                <a:spcPts val="43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743199" y="8328856"/>
            <a:ext cx="294590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E3ECF8"/>
                </a:solidFill>
                <a:latin typeface="Nunito 2 Bold"/>
                <a:ea typeface="Nunito 2 Bold"/>
                <a:cs typeface="Nunito 2 Bold"/>
                <a:sym typeface="Nunito 2 Bold"/>
              </a:rPr>
              <a:t>Kawtar BENSOUDA</a:t>
            </a:r>
          </a:p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E3ECF8"/>
                </a:solidFill>
                <a:latin typeface="Nunito 2 Bold"/>
                <a:ea typeface="Nunito 2 Bold"/>
                <a:cs typeface="Nunito 2 Bold"/>
                <a:sym typeface="Nunito 2 Bold"/>
              </a:rPr>
              <a:t>Kawtar AIT ALI </a:t>
            </a:r>
          </a:p>
          <a:p>
            <a:pPr algn="l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E3ECF8"/>
                </a:solidFill>
                <a:latin typeface="Nunito 2 Bold"/>
                <a:ea typeface="Nunito 2 Bold"/>
                <a:cs typeface="Nunito 2 Bold"/>
                <a:sym typeface="Nunito 2 Bold"/>
              </a:rPr>
              <a:t>Nada JABEL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66" t="0" r="-93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4991" y="3574117"/>
            <a:ext cx="16104309" cy="4997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3"/>
              </a:lnSpc>
              <a:spcBef>
                <a:spcPct val="0"/>
              </a:spcBef>
            </a:pPr>
            <a:r>
              <a:rPr lang="en-US" b="true" sz="3329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           </a:t>
            </a:r>
            <a:r>
              <a:rPr lang="en-US" b="true" sz="3329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Dans le cadre du module Développement Web, nous avons réalisé CineTech, une application Web de type Smart Backoffice Dashboard.</a:t>
            </a:r>
          </a:p>
          <a:p>
            <a:pPr algn="l">
              <a:lnSpc>
                <a:spcPts val="4993"/>
              </a:lnSpc>
              <a:spcBef>
                <a:spcPct val="0"/>
              </a:spcBef>
            </a:pPr>
            <a:r>
              <a:rPr lang="en-US" b="true" sz="3329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          L’objectif est de gérer des données cinéma dans une interface moderne en Single Page Application (SPA), développée en HTML5, CSS3 et JavaScript Vanilla.</a:t>
            </a:r>
          </a:p>
          <a:p>
            <a:pPr algn="l">
              <a:lnSpc>
                <a:spcPts val="4993"/>
              </a:lnSpc>
              <a:spcBef>
                <a:spcPct val="0"/>
              </a:spcBef>
            </a:pPr>
            <a:r>
              <a:rPr lang="en-US" b="true" sz="3329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          Le projet met en pratique : la manipulation avancée du DOM, la gestion des événements, les fonctionnalités CRUD avec persistance via LocalStorage, un Dashboard avec KPI et graphiques Chart.js, ainsi qu’une intégration API externe via fetch() (TVMaze).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4809" y="1389272"/>
            <a:ext cx="6084540" cy="1533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9"/>
              </a:lnSpc>
              <a:spcBef>
                <a:spcPct val="0"/>
              </a:spcBef>
            </a:pPr>
            <a:r>
              <a:rPr lang="en-US" b="true" sz="8499">
                <a:solidFill>
                  <a:srgbClr val="25355B"/>
                </a:solidFill>
                <a:latin typeface="Nunito 2 Bold"/>
                <a:ea typeface="Nunito 2 Bold"/>
                <a:cs typeface="Nunito 2 Bold"/>
                <a:sym typeface="Nunito 2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1550"/>
            <a:ext cx="12726930" cy="249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002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Pr</a:t>
            </a:r>
            <a:r>
              <a:rPr lang="en-US" sz="8002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oblématique &amp; Objectifs </a:t>
            </a:r>
          </a:p>
          <a:p>
            <a:pPr algn="l">
              <a:lnSpc>
                <a:spcPts val="9602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17442" y="2570660"/>
            <a:ext cx="5602651" cy="2251302"/>
            <a:chOff x="0" y="0"/>
            <a:chExt cx="7470201" cy="300173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470201" cy="3001736"/>
              <a:chOff x="0" y="0"/>
              <a:chExt cx="7045872" cy="283122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047143" cy="2831229"/>
              </a:xfrm>
              <a:custGeom>
                <a:avLst/>
                <a:gdLst/>
                <a:ahLst/>
                <a:cxnLst/>
                <a:rect r="r" b="b" t="t" l="l"/>
                <a:pathLst>
                  <a:path h="2831229" w="7047143">
                    <a:moveTo>
                      <a:pt x="6493422" y="2831229"/>
                    </a:moveTo>
                    <a:lnTo>
                      <a:pt x="553720" y="2831229"/>
                    </a:lnTo>
                    <a:cubicBezTo>
                      <a:pt x="247650" y="2831229"/>
                      <a:pt x="0" y="2197618"/>
                      <a:pt x="0" y="1417399"/>
                    </a:cubicBezTo>
                    <a:cubicBezTo>
                      <a:pt x="0" y="633928"/>
                      <a:pt x="247650" y="0"/>
                      <a:pt x="553720" y="0"/>
                    </a:cubicBezTo>
                    <a:lnTo>
                      <a:pt x="6493422" y="0"/>
                    </a:lnTo>
                    <a:cubicBezTo>
                      <a:pt x="6799493" y="0"/>
                      <a:pt x="7047143" y="633928"/>
                      <a:pt x="7047143" y="1417399"/>
                    </a:cubicBezTo>
                    <a:cubicBezTo>
                      <a:pt x="7045872" y="2197618"/>
                      <a:pt x="6798222" y="2831229"/>
                      <a:pt x="6493422" y="2831229"/>
                    </a:cubicBezTo>
                    <a:close/>
                  </a:path>
                </a:pathLst>
              </a:custGeom>
              <a:solidFill>
                <a:srgbClr val="FFBE70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409005" y="275953"/>
              <a:ext cx="6469010" cy="2383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Nunito 2"/>
                  <a:ea typeface="Nunito 2"/>
                  <a:cs typeface="Nunito 2"/>
                  <a:sym typeface="Nunito 2"/>
                </a:rPr>
                <a:t>Manipulation avancée du DOM + gestion des événements (click, submit, input…)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7442" y="5143500"/>
            <a:ext cx="5602651" cy="2251302"/>
            <a:chOff x="0" y="0"/>
            <a:chExt cx="7470201" cy="300173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470201" cy="3001736"/>
              <a:chOff x="0" y="0"/>
              <a:chExt cx="7045872" cy="283122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047143" cy="2831229"/>
              </a:xfrm>
              <a:custGeom>
                <a:avLst/>
                <a:gdLst/>
                <a:ahLst/>
                <a:cxnLst/>
                <a:rect r="r" b="b" t="t" l="l"/>
                <a:pathLst>
                  <a:path h="2831229" w="7047143">
                    <a:moveTo>
                      <a:pt x="6493422" y="2831229"/>
                    </a:moveTo>
                    <a:lnTo>
                      <a:pt x="553720" y="2831229"/>
                    </a:lnTo>
                    <a:cubicBezTo>
                      <a:pt x="247650" y="2831229"/>
                      <a:pt x="0" y="2197618"/>
                      <a:pt x="0" y="1417399"/>
                    </a:cubicBezTo>
                    <a:cubicBezTo>
                      <a:pt x="0" y="633928"/>
                      <a:pt x="247650" y="0"/>
                      <a:pt x="553720" y="0"/>
                    </a:cubicBezTo>
                    <a:lnTo>
                      <a:pt x="6493422" y="0"/>
                    </a:lnTo>
                    <a:cubicBezTo>
                      <a:pt x="6799493" y="0"/>
                      <a:pt x="7047143" y="633928"/>
                      <a:pt x="7047143" y="1417399"/>
                    </a:cubicBezTo>
                    <a:cubicBezTo>
                      <a:pt x="7045872" y="2197618"/>
                      <a:pt x="6798222" y="2831229"/>
                      <a:pt x="6493422" y="2831229"/>
                    </a:cubicBezTo>
                    <a:close/>
                  </a:path>
                </a:pathLst>
              </a:custGeom>
              <a:solidFill>
                <a:srgbClr val="FFBE70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409005" y="275953"/>
              <a:ext cx="6469010" cy="2383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Nunito 2"/>
                  <a:ea typeface="Nunito 2"/>
                  <a:cs typeface="Nunito 2"/>
                  <a:sym typeface="Nunito 2"/>
                </a:rPr>
                <a:t>Structure SPA (Single Page Application) : sections affichées/masquées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7442" y="7666381"/>
            <a:ext cx="5602651" cy="1794102"/>
            <a:chOff x="0" y="0"/>
            <a:chExt cx="7470201" cy="239213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470201" cy="2392136"/>
              <a:chOff x="0" y="0"/>
              <a:chExt cx="7045872" cy="225625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047143" cy="2256256"/>
              </a:xfrm>
              <a:custGeom>
                <a:avLst/>
                <a:gdLst/>
                <a:ahLst/>
                <a:cxnLst/>
                <a:rect r="r" b="b" t="t" l="l"/>
                <a:pathLst>
                  <a:path h="2256256" w="7047143">
                    <a:moveTo>
                      <a:pt x="6493422" y="2256256"/>
                    </a:moveTo>
                    <a:lnTo>
                      <a:pt x="553720" y="2256256"/>
                    </a:lnTo>
                    <a:cubicBezTo>
                      <a:pt x="247650" y="2256256"/>
                      <a:pt x="0" y="1751288"/>
                      <a:pt x="0" y="1129529"/>
                    </a:cubicBezTo>
                    <a:cubicBezTo>
                      <a:pt x="0" y="505179"/>
                      <a:pt x="247650" y="0"/>
                      <a:pt x="553720" y="0"/>
                    </a:cubicBezTo>
                    <a:lnTo>
                      <a:pt x="6493422" y="0"/>
                    </a:lnTo>
                    <a:cubicBezTo>
                      <a:pt x="6799493" y="0"/>
                      <a:pt x="7047143" y="505179"/>
                      <a:pt x="7047143" y="1129529"/>
                    </a:cubicBezTo>
                    <a:cubicBezTo>
                      <a:pt x="7045872" y="1751288"/>
                      <a:pt x="6798222" y="2256256"/>
                      <a:pt x="6493422" y="2256256"/>
                    </a:cubicBezTo>
                    <a:close/>
                  </a:path>
                </a:pathLst>
              </a:custGeom>
              <a:solidFill>
                <a:srgbClr val="FFBE70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9005" y="275953"/>
              <a:ext cx="6469010" cy="1773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Nunito 2"/>
                  <a:ea typeface="Nunito 2"/>
                  <a:cs typeface="Nunito 2"/>
                  <a:sym typeface="Nunito 2"/>
                </a:rPr>
                <a:t>Module principal CRUD complet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761861" y="2359409"/>
            <a:ext cx="6122751" cy="1336902"/>
            <a:chOff x="0" y="0"/>
            <a:chExt cx="8163668" cy="178253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8163668" cy="1782536"/>
              <a:chOff x="0" y="0"/>
              <a:chExt cx="7699949" cy="168128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701218" cy="1681283"/>
              </a:xfrm>
              <a:custGeom>
                <a:avLst/>
                <a:gdLst/>
                <a:ahLst/>
                <a:cxnLst/>
                <a:rect r="r" b="b" t="t" l="l"/>
                <a:pathLst>
                  <a:path h="1681283" w="7701218">
                    <a:moveTo>
                      <a:pt x="7147499" y="1681283"/>
                    </a:moveTo>
                    <a:lnTo>
                      <a:pt x="553720" y="1681283"/>
                    </a:lnTo>
                    <a:cubicBezTo>
                      <a:pt x="247650" y="1681283"/>
                      <a:pt x="0" y="1304959"/>
                      <a:pt x="0" y="841660"/>
                    </a:cubicBezTo>
                    <a:cubicBezTo>
                      <a:pt x="0" y="376430"/>
                      <a:pt x="247650" y="0"/>
                      <a:pt x="553720" y="0"/>
                    </a:cubicBezTo>
                    <a:lnTo>
                      <a:pt x="7147499" y="0"/>
                    </a:lnTo>
                    <a:cubicBezTo>
                      <a:pt x="7453568" y="0"/>
                      <a:pt x="7701218" y="376430"/>
                      <a:pt x="7701218" y="841660"/>
                    </a:cubicBezTo>
                    <a:cubicBezTo>
                      <a:pt x="7699949" y="1304959"/>
                      <a:pt x="7452299" y="1681283"/>
                      <a:pt x="7147499" y="1681283"/>
                    </a:cubicBezTo>
                    <a:close/>
                  </a:path>
                </a:pathLst>
              </a:custGeom>
              <a:solidFill>
                <a:srgbClr val="FFBE70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446973" y="275953"/>
              <a:ext cx="7069535" cy="1163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Nunito 2"/>
                  <a:ea typeface="Nunito 2"/>
                  <a:cs typeface="Nunito 2"/>
                  <a:sym typeface="Nunito 2"/>
                </a:rPr>
                <a:t>Module secondaire CRUD simplifié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57375" y="3924912"/>
            <a:ext cx="6127236" cy="1794102"/>
            <a:chOff x="0" y="0"/>
            <a:chExt cx="8169648" cy="239213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8169648" cy="2392136"/>
              <a:chOff x="0" y="0"/>
              <a:chExt cx="7705590" cy="225625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706860" cy="2256256"/>
              </a:xfrm>
              <a:custGeom>
                <a:avLst/>
                <a:gdLst/>
                <a:ahLst/>
                <a:cxnLst/>
                <a:rect r="r" b="b" t="t" l="l"/>
                <a:pathLst>
                  <a:path h="2256256" w="7706860">
                    <a:moveTo>
                      <a:pt x="7153139" y="2256256"/>
                    </a:moveTo>
                    <a:lnTo>
                      <a:pt x="553720" y="2256256"/>
                    </a:lnTo>
                    <a:cubicBezTo>
                      <a:pt x="247650" y="2256256"/>
                      <a:pt x="0" y="1751288"/>
                      <a:pt x="0" y="1129529"/>
                    </a:cubicBezTo>
                    <a:cubicBezTo>
                      <a:pt x="0" y="505179"/>
                      <a:pt x="247650" y="0"/>
                      <a:pt x="553720" y="0"/>
                    </a:cubicBezTo>
                    <a:lnTo>
                      <a:pt x="7153139" y="0"/>
                    </a:lnTo>
                    <a:cubicBezTo>
                      <a:pt x="7459210" y="0"/>
                      <a:pt x="7706860" y="505179"/>
                      <a:pt x="7706860" y="1129529"/>
                    </a:cubicBezTo>
                    <a:cubicBezTo>
                      <a:pt x="7705589" y="1751288"/>
                      <a:pt x="7457939" y="2256256"/>
                      <a:pt x="7153139" y="2256256"/>
                    </a:cubicBezTo>
                    <a:close/>
                  </a:path>
                </a:pathLst>
              </a:custGeom>
              <a:solidFill>
                <a:srgbClr val="FFBE70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447300" y="275953"/>
              <a:ext cx="7074715" cy="1773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Nunito 2"/>
                  <a:ea typeface="Nunito 2"/>
                  <a:cs typeface="Nunito 2"/>
                  <a:sym typeface="Nunito 2"/>
                </a:rPr>
                <a:t>Dashboard : KPI + graphiques (Chart.js)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61861" y="6024246"/>
            <a:ext cx="6122751" cy="1794102"/>
            <a:chOff x="0" y="0"/>
            <a:chExt cx="8163668" cy="239213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163668" cy="2392136"/>
              <a:chOff x="0" y="0"/>
              <a:chExt cx="7699949" cy="225625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701218" cy="2256256"/>
              </a:xfrm>
              <a:custGeom>
                <a:avLst/>
                <a:gdLst/>
                <a:ahLst/>
                <a:cxnLst/>
                <a:rect r="r" b="b" t="t" l="l"/>
                <a:pathLst>
                  <a:path h="2256256" w="7701218">
                    <a:moveTo>
                      <a:pt x="7147499" y="2256256"/>
                    </a:moveTo>
                    <a:lnTo>
                      <a:pt x="553720" y="2256256"/>
                    </a:lnTo>
                    <a:cubicBezTo>
                      <a:pt x="247650" y="2256256"/>
                      <a:pt x="0" y="1751288"/>
                      <a:pt x="0" y="1129529"/>
                    </a:cubicBezTo>
                    <a:cubicBezTo>
                      <a:pt x="0" y="505179"/>
                      <a:pt x="247650" y="0"/>
                      <a:pt x="553720" y="0"/>
                    </a:cubicBezTo>
                    <a:lnTo>
                      <a:pt x="7147499" y="0"/>
                    </a:lnTo>
                    <a:cubicBezTo>
                      <a:pt x="7453568" y="0"/>
                      <a:pt x="7701218" y="505179"/>
                      <a:pt x="7701218" y="1129529"/>
                    </a:cubicBezTo>
                    <a:cubicBezTo>
                      <a:pt x="7699949" y="1751288"/>
                      <a:pt x="7452299" y="2256256"/>
                      <a:pt x="7147499" y="2256256"/>
                    </a:cubicBezTo>
                    <a:close/>
                  </a:path>
                </a:pathLst>
              </a:custGeom>
              <a:solidFill>
                <a:srgbClr val="FFBE70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446973" y="275953"/>
              <a:ext cx="7069535" cy="1773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Nunito 2"/>
                  <a:ea typeface="Nunito 2"/>
                  <a:cs typeface="Nunito 2"/>
                  <a:sym typeface="Nunito 2"/>
                </a:rPr>
                <a:t>Intégration API externe via fetch() + .then() .catch()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61861" y="8123581"/>
            <a:ext cx="6122751" cy="1336902"/>
            <a:chOff x="0" y="0"/>
            <a:chExt cx="8163668" cy="178253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8163668" cy="1782536"/>
              <a:chOff x="0" y="0"/>
              <a:chExt cx="7699949" cy="168128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701218" cy="1681283"/>
              </a:xfrm>
              <a:custGeom>
                <a:avLst/>
                <a:gdLst/>
                <a:ahLst/>
                <a:cxnLst/>
                <a:rect r="r" b="b" t="t" l="l"/>
                <a:pathLst>
                  <a:path h="1681283" w="7701218">
                    <a:moveTo>
                      <a:pt x="7147499" y="1681283"/>
                    </a:moveTo>
                    <a:lnTo>
                      <a:pt x="553720" y="1681283"/>
                    </a:lnTo>
                    <a:cubicBezTo>
                      <a:pt x="247650" y="1681283"/>
                      <a:pt x="0" y="1304959"/>
                      <a:pt x="0" y="841660"/>
                    </a:cubicBezTo>
                    <a:cubicBezTo>
                      <a:pt x="0" y="376430"/>
                      <a:pt x="247650" y="0"/>
                      <a:pt x="553720" y="0"/>
                    </a:cubicBezTo>
                    <a:lnTo>
                      <a:pt x="7147499" y="0"/>
                    </a:lnTo>
                    <a:cubicBezTo>
                      <a:pt x="7453568" y="0"/>
                      <a:pt x="7701218" y="376430"/>
                      <a:pt x="7701218" y="841660"/>
                    </a:cubicBezTo>
                    <a:cubicBezTo>
                      <a:pt x="7699949" y="1304959"/>
                      <a:pt x="7452299" y="1681283"/>
                      <a:pt x="7147499" y="1681283"/>
                    </a:cubicBezTo>
                    <a:close/>
                  </a:path>
                </a:pathLst>
              </a:custGeom>
              <a:solidFill>
                <a:srgbClr val="FFBE70"/>
              </a:solid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446973" y="275953"/>
              <a:ext cx="7069535" cy="1163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Nunito 2"/>
                  <a:ea typeface="Nunito 2"/>
                  <a:cs typeface="Nunito 2"/>
                  <a:sym typeface="Nunito 2"/>
                </a:rPr>
                <a:t>Persistance LocalStorage (données conservées après rechargement)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6382042" y="2554802"/>
            <a:ext cx="5013383" cy="6703498"/>
          </a:xfrm>
          <a:custGeom>
            <a:avLst/>
            <a:gdLst/>
            <a:ahLst/>
            <a:cxnLst/>
            <a:rect r="r" b="b" t="t" l="l"/>
            <a:pathLst>
              <a:path h="6703498" w="5013383">
                <a:moveTo>
                  <a:pt x="0" y="0"/>
                </a:moveTo>
                <a:lnTo>
                  <a:pt x="5013383" y="0"/>
                </a:lnTo>
                <a:lnTo>
                  <a:pt x="5013383" y="6703498"/>
                </a:lnTo>
                <a:lnTo>
                  <a:pt x="0" y="6703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35435" b="-9070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1274" y="2478516"/>
            <a:ext cx="9234487" cy="7057430"/>
            <a:chOff x="0" y="0"/>
            <a:chExt cx="3123765" cy="23873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3765" cy="2387329"/>
            </a:xfrm>
            <a:custGeom>
              <a:avLst/>
              <a:gdLst/>
              <a:ahLst/>
              <a:cxnLst/>
              <a:rect r="r" b="b" t="t" l="l"/>
              <a:pathLst>
                <a:path h="2387329" w="3123765">
                  <a:moveTo>
                    <a:pt x="2999305" y="2387328"/>
                  </a:moveTo>
                  <a:lnTo>
                    <a:pt x="124460" y="2387328"/>
                  </a:lnTo>
                  <a:cubicBezTo>
                    <a:pt x="55880" y="2387328"/>
                    <a:pt x="0" y="2331448"/>
                    <a:pt x="0" y="226286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999305" y="0"/>
                  </a:lnTo>
                  <a:cubicBezTo>
                    <a:pt x="3067885" y="0"/>
                    <a:pt x="3123765" y="55880"/>
                    <a:pt x="3123765" y="124460"/>
                  </a:cubicBezTo>
                  <a:lnTo>
                    <a:pt x="3123765" y="2262868"/>
                  </a:lnTo>
                  <a:cubicBezTo>
                    <a:pt x="3123765" y="2331448"/>
                    <a:pt x="3067885" y="2387329"/>
                    <a:pt x="2999305" y="2387329"/>
                  </a:cubicBezTo>
                  <a:close/>
                </a:path>
              </a:pathLst>
            </a:custGeom>
            <a:solidFill>
              <a:srgbClr val="E3ECF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73646" y="2478516"/>
            <a:ext cx="5976148" cy="7057430"/>
          </a:xfrm>
          <a:custGeom>
            <a:avLst/>
            <a:gdLst/>
            <a:ahLst/>
            <a:cxnLst/>
            <a:rect r="r" b="b" t="t" l="l"/>
            <a:pathLst>
              <a:path h="7057430" w="5976148">
                <a:moveTo>
                  <a:pt x="0" y="0"/>
                </a:moveTo>
                <a:lnTo>
                  <a:pt x="5976148" y="0"/>
                </a:lnTo>
                <a:lnTo>
                  <a:pt x="5976148" y="7057431"/>
                </a:lnTo>
                <a:lnTo>
                  <a:pt x="0" y="7057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72" t="-3040" r="-16247" b="-421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7045" y="589647"/>
            <a:ext cx="17033911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Architecture globale (Modules JS)</a:t>
            </a:r>
          </a:p>
          <a:p>
            <a:pPr algn="l">
              <a:lnSpc>
                <a:spcPts val="96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295807" y="2989947"/>
            <a:ext cx="8185421" cy="638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b="true" sz="3110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app.js :</a:t>
            </a:r>
            <a:r>
              <a:rPr lang="en-US" sz="3110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 point d’entrée, initialise tous les modules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b="true" sz="3110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router.js : </a:t>
            </a:r>
            <a:r>
              <a:rPr lang="en-US" sz="3110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navigation SPA via hashchange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b="true" sz="3110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storage.js :</a:t>
            </a:r>
            <a:r>
              <a:rPr lang="en-US" sz="3110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 wrapper LocalStorage avec préfixe CINETECH_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b="true" sz="3110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movies.js :</a:t>
            </a:r>
            <a:r>
              <a:rPr lang="en-US" sz="3110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 module Films (CRUD complet)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b="true" sz="3110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categories.js :</a:t>
            </a:r>
            <a:r>
              <a:rPr lang="en-US" sz="3110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 module Catégories (CRUD light)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b="true" sz="3110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dashboard.js :</a:t>
            </a:r>
            <a:r>
              <a:rPr lang="en-US" sz="3110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 KPI + graphiques Chart.js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b="true" sz="3110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api.js :</a:t>
            </a:r>
            <a:r>
              <a:rPr lang="en-US" sz="3110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 intégration API externe (TVMaze)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302" y="2950149"/>
            <a:ext cx="5810518" cy="7039396"/>
            <a:chOff x="0" y="0"/>
            <a:chExt cx="1965533" cy="2381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534" cy="2381228"/>
            </a:xfrm>
            <a:custGeom>
              <a:avLst/>
              <a:gdLst/>
              <a:ahLst/>
              <a:cxnLst/>
              <a:rect r="r" b="b" t="t" l="l"/>
              <a:pathLst>
                <a:path h="2381228" w="1965534">
                  <a:moveTo>
                    <a:pt x="1841073" y="2381228"/>
                  </a:moveTo>
                  <a:lnTo>
                    <a:pt x="124460" y="2381228"/>
                  </a:lnTo>
                  <a:cubicBezTo>
                    <a:pt x="55880" y="2381228"/>
                    <a:pt x="0" y="2325348"/>
                    <a:pt x="0" y="225676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841073" y="0"/>
                  </a:lnTo>
                  <a:cubicBezTo>
                    <a:pt x="1909653" y="0"/>
                    <a:pt x="1965534" y="55880"/>
                    <a:pt x="1965534" y="124460"/>
                  </a:cubicBezTo>
                  <a:lnTo>
                    <a:pt x="1965534" y="2256768"/>
                  </a:lnTo>
                  <a:cubicBezTo>
                    <a:pt x="1965534" y="2325348"/>
                    <a:pt x="1909653" y="2381228"/>
                    <a:pt x="1841073" y="2381228"/>
                  </a:cubicBezTo>
                  <a:close/>
                </a:path>
              </a:pathLst>
            </a:custGeom>
            <a:solidFill>
              <a:srgbClr val="E3ECF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783470" y="343910"/>
            <a:ext cx="11130953" cy="7291537"/>
          </a:xfrm>
          <a:custGeom>
            <a:avLst/>
            <a:gdLst/>
            <a:ahLst/>
            <a:cxnLst/>
            <a:rect r="r" b="b" t="t" l="l"/>
            <a:pathLst>
              <a:path h="7291537" w="11130953">
                <a:moveTo>
                  <a:pt x="0" y="0"/>
                </a:moveTo>
                <a:lnTo>
                  <a:pt x="11130953" y="0"/>
                </a:lnTo>
                <a:lnTo>
                  <a:pt x="11130953" y="7291537"/>
                </a:lnTo>
                <a:lnTo>
                  <a:pt x="0" y="7291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98" r="0" b="-239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1302" y="286760"/>
            <a:ext cx="17033911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SP</a:t>
            </a:r>
            <a:r>
              <a:rPr lang="en-US" sz="8000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A Routing</a:t>
            </a:r>
          </a:p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(router.js)</a:t>
            </a:r>
          </a:p>
          <a:p>
            <a:pPr algn="l">
              <a:lnSpc>
                <a:spcPts val="96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37491" y="3197794"/>
            <a:ext cx="4918140" cy="646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160" indent="-284580" lvl="1">
              <a:lnSpc>
                <a:spcPts val="3954"/>
              </a:lnSpc>
              <a:buFont typeface="Arial"/>
              <a:buChar char="•"/>
            </a:pPr>
            <a:r>
              <a:rPr lang="en-US" b="true" sz="2636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Routes valides : </a:t>
            </a:r>
            <a:r>
              <a:rPr lang="en-US" sz="2636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#dashboard, #movies, #categories, #api</a:t>
            </a:r>
          </a:p>
          <a:p>
            <a:pPr algn="l" marL="569160" indent="-284580" lvl="1">
              <a:lnSpc>
                <a:spcPts val="3954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router.js masque toutes les sections .view-section puis affiche la section active</a:t>
            </a:r>
          </a:p>
          <a:p>
            <a:pPr algn="l" marL="569160" indent="-284580" lvl="1">
              <a:lnSpc>
                <a:spcPts val="3954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La sidebar est mise à jour (classe active) + titre dynamique (current-page-title)</a:t>
            </a:r>
          </a:p>
          <a:p>
            <a:pPr algn="l" marL="569160" indent="-284580" lvl="1">
              <a:lnSpc>
                <a:spcPts val="3954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Support mobile : fermeture automatique du menu sur petit écran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38501" y="8077951"/>
            <a:ext cx="10475922" cy="191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5"/>
              </a:lnSpc>
              <a:spcBef>
                <a:spcPct val="0"/>
              </a:spcBef>
            </a:pPr>
            <a:r>
              <a:rPr lang="en-US" sz="2576">
                <a:solidFill>
                  <a:srgbClr val="F4F4F4"/>
                </a:solidFill>
                <a:latin typeface="Nunito 2"/>
                <a:ea typeface="Nunito 2"/>
                <a:cs typeface="Nunito 2"/>
                <a:sym typeface="Nunito 2"/>
              </a:rPr>
              <a:t>Cette fonction récupère la route depuis l’URL (window.location.hash), vérifie qu’elle fait partie des routes autorisées, puis appelle updateView() pour afficher la section correspondante et updateSidebar() pour mettre à jour l’état actif du menu.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407" y="693903"/>
            <a:ext cx="18502063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Persist</a:t>
            </a:r>
            <a:r>
              <a:rPr lang="en-US" sz="8000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ance des données (storage.js)</a:t>
            </a:r>
          </a:p>
          <a:p>
            <a:pPr algn="l">
              <a:lnSpc>
                <a:spcPts val="960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304163" y="2601680"/>
            <a:ext cx="7899733" cy="6809898"/>
            <a:chOff x="0" y="0"/>
            <a:chExt cx="2205611" cy="19013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5611" cy="1901329"/>
            </a:xfrm>
            <a:custGeom>
              <a:avLst/>
              <a:gdLst/>
              <a:ahLst/>
              <a:cxnLst/>
              <a:rect r="r" b="b" t="t" l="l"/>
              <a:pathLst>
                <a:path h="1901329" w="2205611">
                  <a:moveTo>
                    <a:pt x="2081151" y="1901328"/>
                  </a:moveTo>
                  <a:lnTo>
                    <a:pt x="124460" y="1901328"/>
                  </a:lnTo>
                  <a:cubicBezTo>
                    <a:pt x="55880" y="1901328"/>
                    <a:pt x="0" y="1845448"/>
                    <a:pt x="0" y="177686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81151" y="0"/>
                  </a:lnTo>
                  <a:cubicBezTo>
                    <a:pt x="2149731" y="0"/>
                    <a:pt x="2205611" y="55880"/>
                    <a:pt x="2205611" y="124460"/>
                  </a:cubicBezTo>
                  <a:lnTo>
                    <a:pt x="2205611" y="1776868"/>
                  </a:lnTo>
                  <a:cubicBezTo>
                    <a:pt x="2205611" y="1845448"/>
                    <a:pt x="2149731" y="1901329"/>
                    <a:pt x="2081151" y="1901329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496081" y="2747575"/>
            <a:ext cx="9173160" cy="6510725"/>
          </a:xfrm>
          <a:custGeom>
            <a:avLst/>
            <a:gdLst/>
            <a:ahLst/>
            <a:cxnLst/>
            <a:rect r="r" b="b" t="t" l="l"/>
            <a:pathLst>
              <a:path h="6510725" w="9173160">
                <a:moveTo>
                  <a:pt x="0" y="0"/>
                </a:moveTo>
                <a:lnTo>
                  <a:pt x="9173160" y="0"/>
                </a:lnTo>
                <a:lnTo>
                  <a:pt x="9173160" y="6510725"/>
                </a:lnTo>
                <a:lnTo>
                  <a:pt x="0" y="6510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517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3328" y="3005062"/>
            <a:ext cx="6932839" cy="591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6"/>
              </a:lnSpc>
            </a:pPr>
            <a:r>
              <a:rPr lang="en-US" sz="26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Implémentation d’</a:t>
            </a:r>
            <a:r>
              <a:rPr lang="en-US" sz="26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un wrapper storage pour sécuriser l’accès à LocalStorage :</a:t>
            </a:r>
          </a:p>
          <a:p>
            <a:pPr algn="l" marL="568075" indent="-284038" lvl="1">
              <a:lnSpc>
                <a:spcPts val="3946"/>
              </a:lnSpc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Préfixe unique CINETECH: évite les conflits avec d’autres applications</a:t>
            </a:r>
          </a:p>
          <a:p>
            <a:pPr algn="l" marL="568075" indent="-284038" lvl="1">
              <a:lnSpc>
                <a:spcPts val="3946"/>
              </a:lnSpc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Storage.get(key) : lit + parse JSON + gestion erreurs</a:t>
            </a:r>
          </a:p>
          <a:p>
            <a:pPr algn="l" marL="568075" indent="-284038" lvl="1">
              <a:lnSpc>
                <a:spcPts val="3946"/>
              </a:lnSpc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Storage.set(key,value) : JSON.stringify + sauvegarde une donnée</a:t>
            </a:r>
          </a:p>
          <a:p>
            <a:pPr algn="l" marL="568075" indent="-284038" lvl="1">
              <a:lnSpc>
                <a:spcPts val="3946"/>
              </a:lnSpc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Remove(key) et ClearApp() pour suppression ciblée ou reset</a:t>
            </a:r>
          </a:p>
          <a:p>
            <a:pPr algn="l">
              <a:lnSpc>
                <a:spcPts val="3946"/>
              </a:lnSpc>
              <a:spcBef>
                <a:spcPct val="0"/>
              </a:spcBef>
            </a:pPr>
            <a:r>
              <a:rPr lang="en-US" b="true" sz="2631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Impact :</a:t>
            </a:r>
            <a:r>
              <a:rPr lang="en-US" sz="26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  conserver les films/catégories après rafraîchissement de la page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302" y="2172710"/>
            <a:ext cx="10349257" cy="7585497"/>
            <a:chOff x="0" y="0"/>
            <a:chExt cx="3248823" cy="2381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48823" cy="2381228"/>
            </a:xfrm>
            <a:custGeom>
              <a:avLst/>
              <a:gdLst/>
              <a:ahLst/>
              <a:cxnLst/>
              <a:rect r="r" b="b" t="t" l="l"/>
              <a:pathLst>
                <a:path h="2381228" w="3248823">
                  <a:moveTo>
                    <a:pt x="3124363" y="2381228"/>
                  </a:moveTo>
                  <a:lnTo>
                    <a:pt x="124460" y="2381228"/>
                  </a:lnTo>
                  <a:cubicBezTo>
                    <a:pt x="55880" y="2381228"/>
                    <a:pt x="0" y="2325348"/>
                    <a:pt x="0" y="225676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124363" y="0"/>
                  </a:lnTo>
                  <a:cubicBezTo>
                    <a:pt x="3192943" y="0"/>
                    <a:pt x="3248823" y="55880"/>
                    <a:pt x="3248823" y="124460"/>
                  </a:cubicBezTo>
                  <a:lnTo>
                    <a:pt x="3248823" y="2256768"/>
                  </a:lnTo>
                  <a:cubicBezTo>
                    <a:pt x="3248823" y="2325348"/>
                    <a:pt x="3192943" y="2381228"/>
                    <a:pt x="3124363" y="2381228"/>
                  </a:cubicBezTo>
                  <a:close/>
                </a:path>
              </a:pathLst>
            </a:custGeom>
            <a:solidFill>
              <a:srgbClr val="E3ECF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867017" y="2172710"/>
            <a:ext cx="7141904" cy="7585497"/>
          </a:xfrm>
          <a:custGeom>
            <a:avLst/>
            <a:gdLst/>
            <a:ahLst/>
            <a:cxnLst/>
            <a:rect r="r" b="b" t="t" l="l"/>
            <a:pathLst>
              <a:path h="7585497" w="7141904">
                <a:moveTo>
                  <a:pt x="0" y="0"/>
                </a:moveTo>
                <a:lnTo>
                  <a:pt x="7141904" y="0"/>
                </a:lnTo>
                <a:lnTo>
                  <a:pt x="7141904" y="7585497"/>
                </a:lnTo>
                <a:lnTo>
                  <a:pt x="0" y="758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8" t="0" r="-527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1302" y="315335"/>
            <a:ext cx="17996698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6"/>
              </a:lnSpc>
            </a:pPr>
            <a:r>
              <a:rPr lang="en-US" sz="5380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Module 1 : Gestion des</a:t>
            </a:r>
            <a:r>
              <a:rPr lang="en-US" sz="5380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Films (movies.js) —</a:t>
            </a:r>
          </a:p>
          <a:p>
            <a:pPr algn="ctr">
              <a:lnSpc>
                <a:spcPts val="6456"/>
              </a:lnSpc>
            </a:pPr>
            <a:r>
              <a:rPr lang="en-US" sz="5380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CRUD complet</a:t>
            </a:r>
          </a:p>
          <a:p>
            <a:pPr algn="l">
              <a:lnSpc>
                <a:spcPts val="6456"/>
              </a:lnSpc>
            </a:pPr>
          </a:p>
          <a:p>
            <a:pPr algn="l">
              <a:lnSpc>
                <a:spcPts val="6456"/>
              </a:lnSpc>
            </a:pPr>
          </a:p>
          <a:p>
            <a:pPr algn="l">
              <a:lnSpc>
                <a:spcPts val="645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72921" y="2407871"/>
            <a:ext cx="9586020" cy="708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Fonctionnalités implémentées :</a:t>
            </a:r>
          </a:p>
          <a:p>
            <a:pPr algn="l">
              <a:lnSpc>
                <a:spcPts val="4320"/>
              </a:lnSpc>
            </a:pPr>
          </a:p>
          <a:p>
            <a:pPr algn="l" marL="777256" indent="-388628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E1D40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Create :</a:t>
            </a:r>
            <a:r>
              <a:rPr lang="en-US" sz="3600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formulaire d’ajout (avec validation)</a:t>
            </a:r>
          </a:p>
          <a:p>
            <a:pPr algn="l" marL="777256" indent="-388628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Read : affichage des films en cartes </a:t>
            </a:r>
          </a:p>
          <a:p>
            <a:pPr algn="l" marL="777256" indent="-388628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E1D40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Update : </a:t>
            </a:r>
            <a:r>
              <a:rPr lang="en-US" sz="3600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bouton “Modifier” qui recharge le formulaire</a:t>
            </a:r>
          </a:p>
          <a:p>
            <a:pPr algn="l" marL="777256" indent="-388628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E1D40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Delete :</a:t>
            </a:r>
            <a:r>
              <a:rPr lang="en-US" sz="3600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bouton “Supprimer” avec confirmation </a:t>
            </a:r>
          </a:p>
          <a:p>
            <a:pPr algn="l" marL="777256" indent="-388628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E1D40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Sauvegarde automatique :</a:t>
            </a:r>
            <a:r>
              <a:rPr lang="en-US" sz="3600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Storage.set('movies', movies)</a:t>
            </a:r>
          </a:p>
          <a:p>
            <a:pPr algn="l" marL="777256" indent="-388628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E1D40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Champs gérés : </a:t>
            </a:r>
            <a:r>
              <a:rPr lang="en-US" sz="3600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titre, année,catégorie,  durée, note, date ajout (addedAt).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6259" y="4525332"/>
            <a:ext cx="17377897" cy="5358825"/>
            <a:chOff x="0" y="0"/>
            <a:chExt cx="5281479" cy="1628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81479" cy="1628651"/>
            </a:xfrm>
            <a:custGeom>
              <a:avLst/>
              <a:gdLst/>
              <a:ahLst/>
              <a:cxnLst/>
              <a:rect r="r" b="b" t="t" l="l"/>
              <a:pathLst>
                <a:path h="1628651" w="5281479">
                  <a:moveTo>
                    <a:pt x="5157019" y="1628651"/>
                  </a:moveTo>
                  <a:lnTo>
                    <a:pt x="124460" y="1628651"/>
                  </a:lnTo>
                  <a:cubicBezTo>
                    <a:pt x="55880" y="1628651"/>
                    <a:pt x="0" y="1572771"/>
                    <a:pt x="0" y="150419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157019" y="0"/>
                  </a:lnTo>
                  <a:cubicBezTo>
                    <a:pt x="5225599" y="0"/>
                    <a:pt x="5281479" y="55880"/>
                    <a:pt x="5281479" y="124460"/>
                  </a:cubicBezTo>
                  <a:lnTo>
                    <a:pt x="5281479" y="1504191"/>
                  </a:lnTo>
                  <a:cubicBezTo>
                    <a:pt x="5281479" y="1572771"/>
                    <a:pt x="5225599" y="1628651"/>
                    <a:pt x="5157019" y="1628651"/>
                  </a:cubicBezTo>
                  <a:close/>
                </a:path>
              </a:pathLst>
            </a:custGeom>
            <a:solidFill>
              <a:srgbClr val="E3ECF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084909" y="456519"/>
            <a:ext cx="12884171" cy="3836295"/>
          </a:xfrm>
          <a:custGeom>
            <a:avLst/>
            <a:gdLst/>
            <a:ahLst/>
            <a:cxnLst/>
            <a:rect r="r" b="b" t="t" l="l"/>
            <a:pathLst>
              <a:path h="3836295" w="12884171">
                <a:moveTo>
                  <a:pt x="0" y="0"/>
                </a:moveTo>
                <a:lnTo>
                  <a:pt x="12884171" y="0"/>
                </a:lnTo>
                <a:lnTo>
                  <a:pt x="12884171" y="3836295"/>
                </a:lnTo>
                <a:lnTo>
                  <a:pt x="0" y="3836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62" t="-7594" r="-1486" b="-63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639132"/>
            <a:ext cx="5683523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7"/>
              </a:lnSpc>
            </a:pPr>
            <a:r>
              <a:rPr lang="en-US" sz="6331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Recherche </a:t>
            </a:r>
          </a:p>
          <a:p>
            <a:pPr algn="ctr">
              <a:lnSpc>
                <a:spcPts val="7597"/>
              </a:lnSpc>
            </a:pPr>
            <a:r>
              <a:rPr lang="en-US" sz="6331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&amp;</a:t>
            </a:r>
            <a:r>
              <a:rPr lang="en-US" sz="6331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Tri </a:t>
            </a:r>
          </a:p>
          <a:p>
            <a:pPr algn="ctr">
              <a:lnSpc>
                <a:spcPts val="7597"/>
              </a:lnSpc>
            </a:pPr>
            <a:r>
              <a:rPr lang="en-US" sz="6331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(movies.js)</a:t>
            </a:r>
          </a:p>
          <a:p>
            <a:pPr algn="r">
              <a:lnSpc>
                <a:spcPts val="759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96808" y="4896850"/>
            <a:ext cx="16307678" cy="500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126" indent="-396063" lvl="1">
              <a:lnSpc>
                <a:spcPts val="4402"/>
              </a:lnSpc>
              <a:buFont typeface="Arial"/>
              <a:buChar char="•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D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ans la page Films :</a:t>
            </a:r>
          </a:p>
          <a:p>
            <a:pPr algn="l" marL="792126" indent="-396063" lvl="1">
              <a:lnSpc>
                <a:spcPts val="4402"/>
              </a:lnSpc>
              <a:buFont typeface="Arial"/>
              <a:buChar char="•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     R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e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ch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e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rche en temps réel via input sur #movie-search</a:t>
            </a:r>
          </a:p>
          <a:p>
            <a:pPr algn="l" marL="1584252" indent="-528084" lvl="2">
              <a:lnSpc>
                <a:spcPts val="4402"/>
              </a:lnSpc>
              <a:buFont typeface="Arial"/>
              <a:buChar char="⚬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        recherche dans le ti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t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r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e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+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le nom de catégorie</a:t>
            </a:r>
          </a:p>
          <a:p>
            <a:pPr algn="l" marL="792126" indent="-396063" lvl="1">
              <a:lnSpc>
                <a:spcPts val="4402"/>
              </a:lnSpc>
              <a:buFont typeface="Arial"/>
              <a:buChar char="•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     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Tri via s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ele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c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t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#movie-sort :</a:t>
            </a:r>
          </a:p>
          <a:p>
            <a:pPr algn="l" marL="1584252" indent="-528084" lvl="2">
              <a:lnSpc>
                <a:spcPts val="4402"/>
              </a:lnSpc>
              <a:buFont typeface="Arial"/>
              <a:buChar char="⚬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        par titre (A→Z)</a:t>
            </a:r>
          </a:p>
          <a:p>
            <a:pPr algn="l" marL="1584252" indent="-528084" lvl="2">
              <a:lnSpc>
                <a:spcPts val="4402"/>
              </a:lnSpc>
              <a:buFont typeface="Arial"/>
              <a:buChar char="⚬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        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p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ar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n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ote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(desc)</a:t>
            </a:r>
          </a:p>
          <a:p>
            <a:pPr algn="l" marL="1584252" indent="-528084" lvl="2">
              <a:lnSpc>
                <a:spcPts val="4402"/>
              </a:lnSpc>
              <a:buFont typeface="Arial"/>
              <a:buChar char="⚬"/>
            </a:pPr>
            <a:r>
              <a:rPr lang="en-US" b="true" sz="3668">
                <a:solidFill>
                  <a:srgbClr val="0E1D40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         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par année (desc)</a:t>
            </a:r>
          </a:p>
          <a:p>
            <a:pPr algn="l" marL="792126" indent="-396063" lvl="1">
              <a:lnSpc>
                <a:spcPts val="4402"/>
              </a:lnSpc>
              <a:buFont typeface="Arial"/>
              <a:buChar char="•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   </a:t>
            </a:r>
            <a:r>
              <a:rPr lang="en-US" b="true" sz="3668">
                <a:solidFill>
                  <a:srgbClr val="0E1D40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Résultat : 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liste toujours recalculée avec renderList() (DOM dynamique).</a:t>
            </a:r>
          </a:p>
          <a:p>
            <a:pPr algn="l">
              <a:lnSpc>
                <a:spcPts val="440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6570" y="5011531"/>
            <a:ext cx="17107586" cy="4961048"/>
            <a:chOff x="0" y="0"/>
            <a:chExt cx="5281479" cy="15315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81479" cy="1531582"/>
            </a:xfrm>
            <a:custGeom>
              <a:avLst/>
              <a:gdLst/>
              <a:ahLst/>
              <a:cxnLst/>
              <a:rect r="r" b="b" t="t" l="l"/>
              <a:pathLst>
                <a:path h="1531582" w="5281479">
                  <a:moveTo>
                    <a:pt x="5157019" y="1531582"/>
                  </a:moveTo>
                  <a:lnTo>
                    <a:pt x="124460" y="1531582"/>
                  </a:lnTo>
                  <a:cubicBezTo>
                    <a:pt x="55880" y="1531582"/>
                    <a:pt x="0" y="1475702"/>
                    <a:pt x="0" y="140712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157019" y="0"/>
                  </a:lnTo>
                  <a:cubicBezTo>
                    <a:pt x="5225599" y="0"/>
                    <a:pt x="5281479" y="55880"/>
                    <a:pt x="5281479" y="124460"/>
                  </a:cubicBezTo>
                  <a:lnTo>
                    <a:pt x="5281479" y="1407122"/>
                  </a:lnTo>
                  <a:cubicBezTo>
                    <a:pt x="5281479" y="1475702"/>
                    <a:pt x="5225599" y="1531582"/>
                    <a:pt x="5157019" y="1531582"/>
                  </a:cubicBezTo>
                  <a:close/>
                </a:path>
              </a:pathLst>
            </a:custGeom>
            <a:solidFill>
              <a:srgbClr val="FDF3E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958041" y="256813"/>
            <a:ext cx="12057451" cy="4324536"/>
          </a:xfrm>
          <a:custGeom>
            <a:avLst/>
            <a:gdLst/>
            <a:ahLst/>
            <a:cxnLst/>
            <a:rect r="r" b="b" t="t" l="l"/>
            <a:pathLst>
              <a:path h="4324536" w="12057451">
                <a:moveTo>
                  <a:pt x="0" y="0"/>
                </a:moveTo>
                <a:lnTo>
                  <a:pt x="12057451" y="0"/>
                </a:lnTo>
                <a:lnTo>
                  <a:pt x="12057451" y="4324536"/>
                </a:lnTo>
                <a:lnTo>
                  <a:pt x="0" y="4324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1" t="-2153" r="-4401" b="-62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668491"/>
            <a:ext cx="5958041" cy="484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7"/>
              </a:lnSpc>
            </a:pPr>
            <a:r>
              <a:rPr lang="en-US" sz="6331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Module 2 :</a:t>
            </a:r>
            <a:r>
              <a:rPr lang="en-US" sz="6331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Catégories (categories.js) — CRUD simplifié</a:t>
            </a:r>
          </a:p>
          <a:p>
            <a:pPr algn="r">
              <a:lnSpc>
                <a:spcPts val="759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0161" y="5286375"/>
            <a:ext cx="16307678" cy="500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2"/>
              </a:lnSpc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Ce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module correspond au CRUD s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e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condaire :</a:t>
            </a:r>
          </a:p>
          <a:p>
            <a:pPr algn="l" marL="792126" indent="-396063" lvl="1">
              <a:lnSpc>
                <a:spcPts val="4402"/>
              </a:lnSpc>
              <a:buFont typeface="Arial"/>
              <a:buChar char="•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Create : ajout d’une catégorie </a:t>
            </a:r>
          </a:p>
          <a:p>
            <a:pPr algn="l" marL="792126" indent="-396063" lvl="1">
              <a:lnSpc>
                <a:spcPts val="4402"/>
              </a:lnSpc>
              <a:buFont typeface="Arial"/>
              <a:buChar char="•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Read : lis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te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des catégories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dans un tableau</a:t>
            </a:r>
          </a:p>
          <a:p>
            <a:pPr algn="l" marL="792126" indent="-396063" lvl="1">
              <a:lnSpc>
                <a:spcPts val="4402"/>
              </a:lnSpc>
              <a:buFont typeface="Arial"/>
              <a:buChar char="•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Delete : supp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ression avec confirmation</a:t>
            </a:r>
          </a:p>
          <a:p>
            <a:pPr algn="l">
              <a:lnSpc>
                <a:spcPts val="4402"/>
              </a:lnSpc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Le point fort :</a:t>
            </a:r>
          </a:p>
          <a:p>
            <a:pPr algn="l" marL="792126" indent="-396063" lvl="1">
              <a:lnSpc>
                <a:spcPts val="4402"/>
              </a:lnSpc>
              <a:buFont typeface="Arial"/>
              <a:buChar char="•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Au démarrage, si vide → seed automatique (Action,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D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rama,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Sci‑Fi, C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ome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dy)</a:t>
            </a:r>
          </a:p>
          <a:p>
            <a:pPr algn="l" marL="792126" indent="-396063" lvl="1">
              <a:lnSpc>
                <a:spcPts val="4402"/>
              </a:lnSpc>
              <a:buFont typeface="Arial"/>
              <a:buChar char="•"/>
            </a:pP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Affich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age du nombre de films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p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a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r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</a:t>
            </a:r>
            <a:r>
              <a:rPr lang="en-US" sz="3668">
                <a:solidFill>
                  <a:srgbClr val="0E1D4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catégorie (calcul avec movies.filter(...)</a:t>
            </a:r>
          </a:p>
          <a:p>
            <a:pPr algn="l">
              <a:lnSpc>
                <a:spcPts val="440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5913" y="5932028"/>
            <a:ext cx="17236174" cy="4020063"/>
            <a:chOff x="0" y="0"/>
            <a:chExt cx="4786760" cy="1116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86761" cy="1116436"/>
            </a:xfrm>
            <a:custGeom>
              <a:avLst/>
              <a:gdLst/>
              <a:ahLst/>
              <a:cxnLst/>
              <a:rect r="r" b="b" t="t" l="l"/>
              <a:pathLst>
                <a:path h="1116436" w="4786761">
                  <a:moveTo>
                    <a:pt x="4662300" y="1116436"/>
                  </a:moveTo>
                  <a:lnTo>
                    <a:pt x="124460" y="1116436"/>
                  </a:lnTo>
                  <a:cubicBezTo>
                    <a:pt x="55880" y="1116436"/>
                    <a:pt x="0" y="1060556"/>
                    <a:pt x="0" y="99197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62300" y="0"/>
                  </a:lnTo>
                  <a:cubicBezTo>
                    <a:pt x="4730880" y="0"/>
                    <a:pt x="4786761" y="55880"/>
                    <a:pt x="4786761" y="124460"/>
                  </a:cubicBezTo>
                  <a:lnTo>
                    <a:pt x="4786761" y="991976"/>
                  </a:lnTo>
                  <a:cubicBezTo>
                    <a:pt x="4786761" y="1060556"/>
                    <a:pt x="4730880" y="1116436"/>
                    <a:pt x="4662300" y="1116436"/>
                  </a:cubicBezTo>
                  <a:close/>
                </a:path>
              </a:pathLst>
            </a:custGeom>
            <a:solidFill>
              <a:srgbClr val="E3ECF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63505" y="363372"/>
            <a:ext cx="10498582" cy="5249291"/>
          </a:xfrm>
          <a:custGeom>
            <a:avLst/>
            <a:gdLst/>
            <a:ahLst/>
            <a:cxnLst/>
            <a:rect r="r" b="b" t="t" l="l"/>
            <a:pathLst>
              <a:path h="5249291" w="10498582">
                <a:moveTo>
                  <a:pt x="0" y="0"/>
                </a:moveTo>
                <a:lnTo>
                  <a:pt x="10498582" y="0"/>
                </a:lnTo>
                <a:lnTo>
                  <a:pt x="10498582" y="5249291"/>
                </a:lnTo>
                <a:lnTo>
                  <a:pt x="0" y="5249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5913" y="1374038"/>
            <a:ext cx="6247712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7"/>
              </a:lnSpc>
            </a:pPr>
            <a:r>
              <a:rPr lang="en-US" sz="6906" b="true">
                <a:solidFill>
                  <a:srgbClr val="F4F4F4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 Graphiques Chart.js (dashboard.js)</a:t>
            </a:r>
          </a:p>
          <a:p>
            <a:pPr algn="ctr">
              <a:lnSpc>
                <a:spcPts val="828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139066"/>
            <a:ext cx="14943288" cy="358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7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Deux graphiques générés automatiquement :</a:t>
            </a:r>
          </a:p>
          <a:p>
            <a:pPr algn="l">
              <a:lnSpc>
                <a:spcPts val="4017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Doughnut : Films par catégorie</a:t>
            </a:r>
          </a:p>
          <a:p>
            <a:pPr algn="l">
              <a:lnSpc>
                <a:spcPts val="4017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compte les films liés à chaque catégorie (genreCounts)</a:t>
            </a:r>
          </a:p>
          <a:p>
            <a:pPr algn="l">
              <a:lnSpc>
                <a:spcPts val="4017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Bar chart : Films par année</a:t>
            </a:r>
          </a:p>
          <a:p>
            <a:pPr algn="l">
              <a:lnSpc>
                <a:spcPts val="4017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regroupe par année (yearCounts) puis trie les années</a:t>
            </a:r>
          </a:p>
          <a:p>
            <a:pPr algn="l">
              <a:lnSpc>
                <a:spcPts val="4017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Gestion propre :</a:t>
            </a:r>
          </a:p>
          <a:p>
            <a:pPr algn="l">
              <a:lnSpc>
                <a:spcPts val="4017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destruction de l’ancien graphique avant redraw (this.charts.genre.destroy())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4250" y="5614072"/>
            <a:ext cx="14692535" cy="4404800"/>
            <a:chOff x="0" y="0"/>
            <a:chExt cx="4202953" cy="1260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2954" cy="1260039"/>
            </a:xfrm>
            <a:custGeom>
              <a:avLst/>
              <a:gdLst/>
              <a:ahLst/>
              <a:cxnLst/>
              <a:rect r="r" b="b" t="t" l="l"/>
              <a:pathLst>
                <a:path h="1260039" w="4202954">
                  <a:moveTo>
                    <a:pt x="4078493" y="1260039"/>
                  </a:moveTo>
                  <a:lnTo>
                    <a:pt x="124460" y="1260039"/>
                  </a:lnTo>
                  <a:cubicBezTo>
                    <a:pt x="55880" y="1260039"/>
                    <a:pt x="0" y="1204159"/>
                    <a:pt x="0" y="113557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78493" y="0"/>
                  </a:lnTo>
                  <a:cubicBezTo>
                    <a:pt x="4147073" y="0"/>
                    <a:pt x="4202954" y="55880"/>
                    <a:pt x="4202954" y="124460"/>
                  </a:cubicBezTo>
                  <a:lnTo>
                    <a:pt x="4202954" y="1135579"/>
                  </a:lnTo>
                  <a:cubicBezTo>
                    <a:pt x="4202954" y="1204159"/>
                    <a:pt x="4147073" y="1260039"/>
                    <a:pt x="4078493" y="1260039"/>
                  </a:cubicBezTo>
                  <a:close/>
                </a:path>
              </a:pathLst>
            </a:custGeom>
            <a:solidFill>
              <a:srgbClr val="25355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54250" y="2043769"/>
            <a:ext cx="14692535" cy="3099731"/>
          </a:xfrm>
          <a:custGeom>
            <a:avLst/>
            <a:gdLst/>
            <a:ahLst/>
            <a:cxnLst/>
            <a:rect r="r" b="b" t="t" l="l"/>
            <a:pathLst>
              <a:path h="3099731" w="14692535">
                <a:moveTo>
                  <a:pt x="0" y="0"/>
                </a:moveTo>
                <a:lnTo>
                  <a:pt x="14692535" y="0"/>
                </a:lnTo>
                <a:lnTo>
                  <a:pt x="14692535" y="3099731"/>
                </a:lnTo>
                <a:lnTo>
                  <a:pt x="0" y="3099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577" r="0" b="-3420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94905" y="764522"/>
            <a:ext cx="17990845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7"/>
              </a:lnSpc>
            </a:pPr>
            <a:r>
              <a:rPr lang="en-US" sz="6206" b="true">
                <a:solidFill>
                  <a:srgbClr val="F4F4F4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 API externe (api.js) : TVMaze + Asynchrone</a:t>
            </a:r>
          </a:p>
          <a:p>
            <a:pPr algn="ctr">
              <a:lnSpc>
                <a:spcPts val="744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471388" y="5905378"/>
            <a:ext cx="14787912" cy="386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371" indent="-305186" lvl="1">
              <a:lnSpc>
                <a:spcPts val="3392"/>
              </a:lnSpc>
              <a:buFont typeface="Arial"/>
              <a:buChar char="•"/>
            </a:pPr>
            <a:r>
              <a:rPr lang="en-US" sz="2827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Intégration d’une API publique avec fetch() :</a:t>
            </a:r>
          </a:p>
          <a:p>
            <a:pPr algn="l" marL="610371" indent="-305186" lvl="1">
              <a:lnSpc>
                <a:spcPts val="3392"/>
              </a:lnSpc>
              <a:buFont typeface="Arial"/>
              <a:buChar char="•"/>
            </a:pPr>
            <a:r>
              <a:rPr lang="en-US" sz="2827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Endpoint : https://api.tvmaze.com/search/shows?q=movie</a:t>
            </a:r>
          </a:p>
          <a:p>
            <a:pPr algn="l" marL="610371" indent="-305186" lvl="1">
              <a:lnSpc>
                <a:spcPts val="3392"/>
              </a:lnSpc>
              <a:buFont typeface="Arial"/>
              <a:buChar char="•"/>
            </a:pPr>
            <a:r>
              <a:rPr lang="en-US" sz="2827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Traitement :</a:t>
            </a:r>
          </a:p>
          <a:p>
            <a:pPr algn="l">
              <a:lnSpc>
                <a:spcPts val="3392"/>
              </a:lnSpc>
            </a:pPr>
            <a:r>
              <a:rPr lang="en-US" sz="2827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                              affichage loading (toggleLoading(true/false))</a:t>
            </a:r>
          </a:p>
          <a:p>
            <a:pPr algn="l">
              <a:lnSpc>
                <a:spcPts val="3392"/>
              </a:lnSpc>
            </a:pPr>
            <a:r>
              <a:rPr lang="en-US" sz="2827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                               gestion erreurs .catch() + message utilisateur</a:t>
            </a:r>
          </a:p>
          <a:p>
            <a:pPr algn="l">
              <a:lnSpc>
                <a:spcPts val="3392"/>
              </a:lnSpc>
            </a:pPr>
            <a:r>
              <a:rPr lang="en-US" sz="2827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                              affichage résultats (limité à 10) dans #api-results</a:t>
            </a:r>
          </a:p>
          <a:p>
            <a:pPr algn="l" marL="610371" indent="-305186" lvl="1">
              <a:lnSpc>
                <a:spcPts val="3392"/>
              </a:lnSpc>
              <a:buFont typeface="Arial"/>
              <a:buChar char="•"/>
            </a:pPr>
            <a:r>
              <a:rPr lang="en-US" sz="2827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infos affichées : nom, année, genres, rating</a:t>
            </a:r>
          </a:p>
          <a:p>
            <a:pPr algn="l" marL="610371" indent="-305186" lvl="1">
              <a:lnSpc>
                <a:spcPts val="3392"/>
              </a:lnSpc>
              <a:buFont typeface="Arial"/>
              <a:buChar char="•"/>
            </a:pPr>
            <a:r>
              <a:rPr lang="en-US" sz="2827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Mise à jour visuelle d’un “KPI message” :</a:t>
            </a:r>
          </a:p>
          <a:p>
            <a:pPr algn="l" marL="610371" indent="-305186" lvl="1">
              <a:lnSpc>
                <a:spcPts val="3392"/>
              </a:lnSpc>
              <a:buFont typeface="Arial"/>
              <a:buChar char="•"/>
            </a:pPr>
            <a:r>
              <a:rPr lang="en-US" sz="2827">
                <a:solidFill>
                  <a:srgbClr val="F4F4F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                   “Succès ! X éléments récupérés.”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407" y="693903"/>
            <a:ext cx="18502063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Initialisatio</a:t>
            </a:r>
            <a:r>
              <a:rPr lang="en-US" sz="8000">
                <a:solidFill>
                  <a:srgbClr val="000000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n + robustesse (app.js)</a:t>
            </a:r>
          </a:p>
          <a:p>
            <a:pPr algn="l">
              <a:lnSpc>
                <a:spcPts val="960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73407" y="2502384"/>
            <a:ext cx="7552681" cy="6946620"/>
            <a:chOff x="0" y="0"/>
            <a:chExt cx="2205611" cy="2028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5611" cy="2028623"/>
            </a:xfrm>
            <a:custGeom>
              <a:avLst/>
              <a:gdLst/>
              <a:ahLst/>
              <a:cxnLst/>
              <a:rect r="r" b="b" t="t" l="l"/>
              <a:pathLst>
                <a:path h="2028623" w="2205611">
                  <a:moveTo>
                    <a:pt x="2081151" y="2028623"/>
                  </a:moveTo>
                  <a:lnTo>
                    <a:pt x="124460" y="2028623"/>
                  </a:lnTo>
                  <a:cubicBezTo>
                    <a:pt x="55880" y="2028623"/>
                    <a:pt x="0" y="1972743"/>
                    <a:pt x="0" y="190416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81151" y="0"/>
                  </a:lnTo>
                  <a:cubicBezTo>
                    <a:pt x="2149731" y="0"/>
                    <a:pt x="2205611" y="55880"/>
                    <a:pt x="2205611" y="124460"/>
                  </a:cubicBezTo>
                  <a:lnTo>
                    <a:pt x="2205611" y="1904163"/>
                  </a:lnTo>
                  <a:cubicBezTo>
                    <a:pt x="2205611" y="1972743"/>
                    <a:pt x="2149731" y="2028623"/>
                    <a:pt x="2081151" y="2028623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935397" y="2502384"/>
            <a:ext cx="7886559" cy="3260490"/>
          </a:xfrm>
          <a:custGeom>
            <a:avLst/>
            <a:gdLst/>
            <a:ahLst/>
            <a:cxnLst/>
            <a:rect r="r" b="b" t="t" l="l"/>
            <a:pathLst>
              <a:path h="3260490" w="7886559">
                <a:moveTo>
                  <a:pt x="0" y="0"/>
                </a:moveTo>
                <a:lnTo>
                  <a:pt x="7886558" y="0"/>
                </a:lnTo>
                <a:lnTo>
                  <a:pt x="7886558" y="3260490"/>
                </a:lnTo>
                <a:lnTo>
                  <a:pt x="0" y="3260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96" r="0" b="-4936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35397" y="6002938"/>
            <a:ext cx="7886559" cy="3446066"/>
          </a:xfrm>
          <a:custGeom>
            <a:avLst/>
            <a:gdLst/>
            <a:ahLst/>
            <a:cxnLst/>
            <a:rect r="r" b="b" t="t" l="l"/>
            <a:pathLst>
              <a:path h="3446066" w="7886559">
                <a:moveTo>
                  <a:pt x="0" y="0"/>
                </a:moveTo>
                <a:lnTo>
                  <a:pt x="7886558" y="0"/>
                </a:lnTo>
                <a:lnTo>
                  <a:pt x="7886558" y="3446066"/>
                </a:lnTo>
                <a:lnTo>
                  <a:pt x="0" y="3446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0173" r="0" b="-1964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3328" y="2916566"/>
            <a:ext cx="6932839" cy="7146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29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app.j</a:t>
            </a:r>
            <a:r>
              <a:rPr lang="en-US" sz="29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s : point d’entrée de l’application</a:t>
            </a:r>
          </a:p>
          <a:p>
            <a:pPr algn="l" marL="632843" indent="-316422" lvl="1">
              <a:lnSpc>
                <a:spcPts val="4396"/>
              </a:lnSpc>
              <a:buFont typeface="Arial"/>
              <a:buChar char="•"/>
            </a:pPr>
            <a:r>
              <a:rPr lang="en-US" sz="29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Initialise le Router et les modules :</a:t>
            </a:r>
          </a:p>
          <a:p>
            <a:pPr algn="l" marL="1265687" indent="-421896" lvl="2">
              <a:lnSpc>
                <a:spcPts val="4396"/>
              </a:lnSpc>
              <a:buFont typeface="Arial"/>
              <a:buChar char="⚬"/>
            </a:pPr>
            <a:r>
              <a:rPr lang="en-US" sz="29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Catego</a:t>
            </a:r>
            <a:r>
              <a:rPr lang="en-US" sz="29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riesModule.init()</a:t>
            </a:r>
          </a:p>
          <a:p>
            <a:pPr algn="l" marL="1265687" indent="-421896" lvl="2">
              <a:lnSpc>
                <a:spcPts val="4396"/>
              </a:lnSpc>
              <a:buFont typeface="Arial"/>
              <a:buChar char="⚬"/>
            </a:pPr>
            <a:r>
              <a:rPr lang="en-US" sz="29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MoviesModule.init()</a:t>
            </a:r>
          </a:p>
          <a:p>
            <a:pPr algn="l" marL="1265687" indent="-421896" lvl="2">
              <a:lnSpc>
                <a:spcPts val="4396"/>
              </a:lnSpc>
              <a:buFont typeface="Arial"/>
              <a:buChar char="⚬"/>
            </a:pPr>
            <a:r>
              <a:rPr lang="en-US" sz="29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DashboardModule.init()</a:t>
            </a:r>
          </a:p>
          <a:p>
            <a:pPr algn="l" marL="1265687" indent="-421896" lvl="2">
              <a:lnSpc>
                <a:spcPts val="4396"/>
              </a:lnSpc>
              <a:buFont typeface="Arial"/>
              <a:buChar char="⚬"/>
            </a:pPr>
            <a:r>
              <a:rPr lang="en-US" sz="29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ApiModule.init()</a:t>
            </a:r>
          </a:p>
          <a:p>
            <a:pPr algn="l" marL="632843" indent="-316422" lvl="1">
              <a:lnSpc>
                <a:spcPts val="4396"/>
              </a:lnSpc>
              <a:buFont typeface="Arial"/>
              <a:buChar char="•"/>
            </a:pPr>
            <a:r>
              <a:rPr lang="en-US" sz="29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Met en place le menu mobile (toggle de la sidebar)</a:t>
            </a:r>
          </a:p>
          <a:p>
            <a:pPr algn="l" marL="632843" indent="-316422" lvl="1">
              <a:lnSpc>
                <a:spcPts val="4396"/>
              </a:lnSpc>
              <a:buFont typeface="Arial"/>
              <a:buChar char="•"/>
            </a:pPr>
            <a:r>
              <a:rPr lang="en-US" sz="2931">
                <a:solidFill>
                  <a:srgbClr val="000000"/>
                </a:solidFill>
                <a:latin typeface="Nunito 2"/>
                <a:ea typeface="Nunito 2"/>
                <a:cs typeface="Nunito 2"/>
                <a:sym typeface="Nunito 2"/>
              </a:rPr>
              <a:t>Ajoute un handler global d’erreurs window.onerror pour faciliter le debug</a:t>
            </a:r>
          </a:p>
          <a:p>
            <a:pPr algn="l">
              <a:lnSpc>
                <a:spcPts val="4396"/>
              </a:lnSpc>
              <a:spcBef>
                <a:spcPct val="0"/>
              </a:spcBef>
            </a:pPr>
          </a:p>
          <a:p>
            <a:pPr algn="l">
              <a:lnSpc>
                <a:spcPts val="43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66" t="0" r="-93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4991" y="3574117"/>
            <a:ext cx="16104309" cy="562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3"/>
              </a:lnSpc>
              <a:spcBef>
                <a:spcPct val="0"/>
              </a:spcBef>
            </a:pPr>
            <a:r>
              <a:rPr lang="en-US" b="true" sz="3329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             Pend</a:t>
            </a:r>
            <a:r>
              <a:rPr lang="en-US" b="true" sz="3329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ant le développement de CineTech, nos principales difficultés étaient la mise en place d’une SPA sans framework, la synchronisation DOM ↔ données ↔ LocalStorage, la mise à jour correcte des KPI/graphiques Chart.js, et la gestion de l’asynchrone avec l’API TVMaze (loading + erreurs). </a:t>
            </a:r>
          </a:p>
          <a:p>
            <a:pPr algn="l">
              <a:lnSpc>
                <a:spcPts val="4993"/>
              </a:lnSpc>
              <a:spcBef>
                <a:spcPct val="0"/>
              </a:spcBef>
            </a:pPr>
            <a:r>
              <a:rPr lang="en-US" b="true" sz="3329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            Ce projet est important car il nous a appris à programmer de façon structurée et modulaire en JavaScript Vanilla, et à maîtriser des bases essentielles comme le CRUD, la persistance et fetch(). </a:t>
            </a:r>
          </a:p>
          <a:p>
            <a:pPr algn="l">
              <a:lnSpc>
                <a:spcPts val="4993"/>
              </a:lnSpc>
              <a:spcBef>
                <a:spcPct val="0"/>
              </a:spcBef>
            </a:pPr>
            <a:r>
              <a:rPr lang="en-US" b="true" sz="3329">
                <a:solidFill>
                  <a:srgbClr val="000000"/>
                </a:solidFill>
                <a:latin typeface="Nunito 2 Bold"/>
                <a:ea typeface="Nunito 2 Bold"/>
                <a:cs typeface="Nunito 2 Bold"/>
                <a:sym typeface="Nunito 2 Bold"/>
              </a:rPr>
              <a:t>           Enfin, la réussite du projet vient aussi de notre travail en équipe : répartition des tâches par modules, coordination et intégration des fonctionnalités ensemble.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706" y="1389272"/>
            <a:ext cx="5448746" cy="314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9"/>
              </a:lnSpc>
              <a:spcBef>
                <a:spcPct val="0"/>
              </a:spcBef>
            </a:pPr>
            <a:r>
              <a:rPr lang="en-US" b="true" sz="8499">
                <a:solidFill>
                  <a:srgbClr val="25355B"/>
                </a:solidFill>
                <a:latin typeface="Nunito 2 Bold"/>
                <a:ea typeface="Nunito 2 Bold"/>
                <a:cs typeface="Nunito 2 Bold"/>
                <a:sym typeface="Nunito 2 Bold"/>
              </a:rPr>
              <a:t>Co</a:t>
            </a:r>
            <a:r>
              <a:rPr lang="en-US" b="true" sz="8499">
                <a:solidFill>
                  <a:srgbClr val="25355B"/>
                </a:solidFill>
                <a:latin typeface="Nunito 2 Bold"/>
                <a:ea typeface="Nunito 2 Bold"/>
                <a:cs typeface="Nunito 2 Bold"/>
                <a:sym typeface="Nunito 2 Bold"/>
              </a:rPr>
              <a:t>nclusion</a:t>
            </a:r>
          </a:p>
          <a:p>
            <a:pPr algn="ctr">
              <a:lnSpc>
                <a:spcPts val="127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DAG923glL4M</dc:identifier>
  <dcterms:modified xsi:type="dcterms:W3CDTF">2011-08-01T06:04:30Z</dcterms:modified>
  <cp:revision>1</cp:revision>
  <dc:title>Blue and Yellow Illustrative School To-Do List Planner Presentation</dc:title>
</cp:coreProperties>
</file>